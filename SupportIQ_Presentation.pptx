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548640"/>
            <a:ext cx="2194560" cy="2194560"/>
          </a:xfrm>
          <a:prstGeom prst="ellipse">
            <a:avLst/>
          </a:prstGeom>
          <a:solidFill>
            <a:srgbClr val="1E4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320040"/>
            <a:ext cx="1920240" cy="292608"/>
          </a:xfrm>
          <a:prstGeom prst="rect">
            <a:avLst/>
          </a:prstGeom>
          <a:solidFill>
            <a:srgbClr val="0F2748"/>
          </a:solidFill>
          <a:ln w="952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3383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3C5FD"/>
                </a:solidFill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713232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SupportIQ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An AI-Powered, Multi-Tenant Customer Support Platform — automating ticket triage,
intelligent reply generation, SLA management, and enterprise integrations.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34640"/>
            <a:ext cx="1069848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852928"/>
            <a:ext cx="9966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Go · 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2834640"/>
            <a:ext cx="1399032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2852928"/>
            <a:ext cx="1325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React · 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834640"/>
            <a:ext cx="1234439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2852928"/>
            <a:ext cx="116128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19" y="2834640"/>
            <a:ext cx="822959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7" y="2852928"/>
            <a:ext cx="749807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Redis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18" y="2834640"/>
            <a:ext cx="1810512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6" y="2852928"/>
            <a:ext cx="1737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Google Gemini 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05470" y="2834640"/>
            <a:ext cx="1152144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8" y="2852928"/>
            <a:ext cx="10789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WebSocket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9054" y="2834640"/>
            <a:ext cx="1152144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2" y="2852928"/>
            <a:ext cx="10789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IMAP/SMTP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38" y="2834640"/>
            <a:ext cx="1069848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6" y="2852928"/>
            <a:ext cx="9966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JWT Auth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53926" y="2834640"/>
            <a:ext cx="1399032" cy="24688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17934" y="2852928"/>
            <a:ext cx="1325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3A5C"/>
                </a:solidFill>
              </a:rPr>
              <a:t>Multi-Tenant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918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KEY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✦  Auto-categorisation, prioritisation &amp; sentiment analysis via Gemini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931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✦  RAG-powered AI draft replies with human approval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343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✦  Real-time WebSocket push, Redis job queue &amp; SLA escalation 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754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✦  Enterprise integrations — Jira, GitHub Issues, Linear, Slack, Webhooks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3200400"/>
            <a:ext cx="2834640" cy="31546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33649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PRESENTED BY</a:t>
            </a:r>
          </a:p>
        </p:txBody>
      </p:sp>
      <p:sp>
        <p:nvSpPr>
          <p:cNvPr id="35" name="Oval 34"/>
          <p:cNvSpPr/>
          <p:nvPr/>
        </p:nvSpPr>
        <p:spPr>
          <a:xfrm>
            <a:off x="9171432" y="370332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3703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Priyanshu Jaiswal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9593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Full-Stack Developer</a:t>
            </a:r>
          </a:p>
        </p:txBody>
      </p:sp>
      <p:sp>
        <p:nvSpPr>
          <p:cNvPr id="39" name="Oval 38"/>
          <p:cNvSpPr/>
          <p:nvPr/>
        </p:nvSpPr>
        <p:spPr>
          <a:xfrm>
            <a:off x="9171432" y="4507992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71432" y="4507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648" y="45354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Ayush Pratap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476402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Full-Stack Developer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71432" y="5303520"/>
            <a:ext cx="2505456" cy="12700"/>
          </a:xfrm>
          <a:prstGeom prst="rect">
            <a:avLst/>
          </a:prstGeom>
          <a:solidFill>
            <a:srgbClr val="D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54406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650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SupportIQ — Open Source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58978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github.com/ayushpratap27/SupportIQ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7FC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5562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SupportIQ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56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Slide 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3C5FD"/>
                </a:solidFill>
              </a:rPr>
              <a:t>SLIDE 02  —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Challenges of Modern Customer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Why traditional help-desk systems fall short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36192"/>
            <a:ext cx="11365992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Customer support teams today are overwhelmed by high ticket volumes, slow manual triage, and inconsistent response quality. Without intelligent automation, organisations struggle to meet SLA commitments, maintain context across multi-channel communication, and extract actionable insights from support data — ultimately leading to poor customer experience and agent burnout.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13432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13432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048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Manual Ticket Triage is Slow &amp; Error-Prone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609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Agents spend significant time reading, categorising, and prioritising tickets by hand. Misclassification leads to SLA breaches.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8" y="2313432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8" y="2313432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4048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Inconsistent &amp; Repetitive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6609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Without a shared knowledge base, agents re-craft similar answers repeatedly, causing inconsistency in quality and wasted effort.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46136" y="2313432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46136" y="2313432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7576" y="24048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No Visibility into SLA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6" y="26609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Teams lack real-time alerting on SLA breaches. By the time a breach is noticed, it is already too late to escalate effectively.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538728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38728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301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Disconnected Tools &amp;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862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Email inboxes, project trackers (Jira, GitHub) and CRMs operate in silos. Agents must context-switch constantly, losing productivity.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8" y="3538728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78808" y="3538728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36301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Lack of Multi-Tenant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8862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Growing SaaS companies need secure support infrastructure for multiple clients. Single-tenant tools don't scale without costly customisation.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46136" y="3538728"/>
            <a:ext cx="3657600" cy="1115568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46136" y="3538728"/>
            <a:ext cx="41148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363016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No Actionable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88620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Managers cannot measure agent performance, AI efficiency, or ticket trends in real time. Decisions are reactive rather than data-driven.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7FC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5562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SupportIQ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56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Slide 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3C5FD"/>
                </a:solidFill>
              </a:rPr>
              <a:t>SLIDE 03  —  SOLUTION &amp; LLM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SupportIQ Solves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Intelligent automation backed by Gemini LLM and a 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AI / LLM PROCESSING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" y="1810512"/>
            <a:ext cx="157276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Ticket
Ingested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Email/API/Form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8860" y="21031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4892" y="1810512"/>
            <a:ext cx="1572768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48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48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Gemini
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48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Category·Priority
Sentiment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21031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3692" y="1810512"/>
            <a:ext cx="1572768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36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36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RAG
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36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Knowledge Base
Full-Text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6460" y="21031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2492" y="1810512"/>
            <a:ext cx="1572768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24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✍️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4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AI Draft
Reply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24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Gemini LLM
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5260" y="21031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51292" y="1810512"/>
            <a:ext cx="157276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12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12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Human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512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Approve/
Reject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4060" y="210312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80092" y="1810512"/>
            <a:ext cx="1572768" cy="1005840"/>
          </a:xfrm>
          <a:prstGeom prst="rect">
            <a:avLst/>
          </a:prstGeom>
          <a:solidFill>
            <a:srgbClr val="F4F7FC"/>
          </a:solidFill>
          <a:ln w="1270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0092" y="1847088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0092" y="215798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A5C"/>
                </a:solidFill>
              </a:rPr>
              <a:t>Reply
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0092" y="2468880"/>
            <a:ext cx="15727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SMTP +
WebSocket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017520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3017520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09067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2461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Automated Triage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474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Gemini LLM auto-categorises, prioritises, and performs sentiment analysis on every incoming ticket asynchronously via a Redis job queue.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3017520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78808" y="3017520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0248" y="309067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32461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RAG-Powered Replies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8" y="3474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Relevant knowledge-base articles are retrieved and injected as context into Gemini, ensuring accurate and consistent AI-drafted responses.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46136" y="3017520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46136" y="3017520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37576" y="309067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7576" y="32461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SLA Monitoring &amp; Escalation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37576" y="3474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 background monitor checks SLA thresholds every 60 s, escalating at 80%, 90%, and 100% breach with real-time WebSocket alerts.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224528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4224528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29768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4531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Multi-Tenant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68172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Complete tenant isolation at JWT, middleware, and repository layers. SuperAdmins manage the platform; each org operates independently.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78808" y="4224528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78808" y="4224528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70248" y="429768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0248" y="44531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Enterprise Integrations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0248" y="468172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One-click sync to Jira, Linear, GitHub Issues &amp; Slack. IMAP/SMTP email threading converts inbound emails to tickets automatically.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6136" y="4224528"/>
            <a:ext cx="3657600" cy="109728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46136" y="4224528"/>
            <a:ext cx="4114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37576" y="429768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7576" y="445312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Analytics &amp; Reporting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37576" y="4681728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Daily metrics aggregation, agent performance dashboards, AI efficiency stats, and exportable PDF/CSV reports for full visibility.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7FC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65562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SupportIQ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556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Slide 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3C5FD"/>
                </a:solidFill>
              </a:rPr>
              <a:t>SLIDE 04  —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Architecture &amp;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Production-grade design — modular, scalable, and cloud-ready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72768"/>
            <a:ext cx="5440680" cy="370332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0078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⚙ 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Go · 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REST API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GORM +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5694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ORM &amp; Primary 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53512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083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083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Job Queue &amp; Pub/Sub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47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Google Gemini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447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LLM — Analysis &amp; Reply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31336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gorilla/websocket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Real-Time Push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JWT (access + refresh)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325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Authentication &amp; RBAC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09160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764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AES-256-GCM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7640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Email Credential Encryption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1572768"/>
            <a:ext cx="5440680" cy="3703320"/>
          </a:xfrm>
          <a:prstGeom prst="rect">
            <a:avLst/>
          </a:prstGeom>
          <a:solidFill>
            <a:srgbClr val="F4F7FC"/>
          </a:solidFill>
          <a:ln w="9525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170078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🖥 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2075688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21305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React 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UI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569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Vite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256946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Build Tool &amp; Dev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2953512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0083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TailwindCSS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8" y="300837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Utility-First Styling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447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React Router v6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34472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Client-Side Routing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3831336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Axios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3886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HTTP API Client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325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WebSocket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4325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Real-Time Ticket Updates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4709160"/>
            <a:ext cx="5257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47640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</a:rPr>
              <a:t>Auth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47640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Session &amp; Role Management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404104"/>
            <a:ext cx="11365992" cy="11704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66013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4955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Layered Architecture: Handler → Service → Repository → Database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5824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3C5FD"/>
                </a:solidFill>
              </a:rPr>
              <a:t>Clean separation of concerns across four layers. Every query is tenant-scoped at the repository layer. Background workers drain a Redis queue with a goroutine pool, using exponential back-off and a dead-letter queue. Real-time events broadcast via WebSocket hub to all connected clients instantly.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7FC"/>
          </a:solidFill>
          <a:ln w="6350">
            <a:solidFill>
              <a:srgbClr val="D1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65562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A5C"/>
                </a:solidFill>
              </a:rPr>
              <a:t>SupportIQ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5562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Slide 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